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7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68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6794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457200"/>
            <a:ext cx="3200400" cy="3200400"/>
          </a:xfrm>
          <a:prstGeom prst="ellipse">
            <a:avLst/>
          </a:prstGeom>
          <a:solidFill>
            <a:srgbClr val="0F3460">
              <a:alpha val="60000"/>
            </a:srgbClr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498080" y="2926080"/>
            <a:ext cx="2560320" cy="2560320"/>
          </a:xfrm>
          <a:prstGeom prst="ellipse">
            <a:avLst/>
          </a:prstGeom>
          <a:solidFill>
            <a:srgbClr val="E94560">
              <a:alpha val="50000"/>
            </a:srgbClr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6858000" y="274320"/>
            <a:ext cx="1371600" cy="1371600"/>
          </a:xfrm>
          <a:prstGeom prst="ellipse">
            <a:avLst/>
          </a:prstGeom>
          <a:solidFill>
            <a:srgbClr val="4FC3F7">
              <a:alpha val="40000"/>
            </a:srgbClr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640080"/>
            <a:ext cx="1188720" cy="1188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91440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인터넷은 어떻게 작동할까?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65760" y="155448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인터넷 네트워크 &amp; 파이썬 채팅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365760" y="26060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컴퓨터끼리 어떻게 대화할까요?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274320" y="44348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파이썬 기초를 아는 초등학생을 위한 수업  |  소켓 프로그래밍 입문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오늘 배울 내용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517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25400">
            <a:solidFill>
              <a:srgbClr val="E9456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188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인터넷이란 무엇인가?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24688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컴퓨터들의 연결 세계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26517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25400">
            <a:solidFill>
              <a:srgbClr val="0F346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383280" y="11887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38328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977640" y="1188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주소와 포트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1783080"/>
            <a:ext cx="24688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주소와 문 번호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097280"/>
            <a:ext cx="26517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25400">
            <a:solidFill>
              <a:srgbClr val="6BCB77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6309360" y="11887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6BCB77"/>
          </a:solidFill>
          <a:ln w="12700">
            <a:solidFill>
              <a:srgbClr val="6BCB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30936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03720" y="1188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클라이언트 &amp; 서버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1783080"/>
            <a:ext cx="24688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주문하는 사람과 요리사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606040"/>
            <a:ext cx="26517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25400">
            <a:solidFill>
              <a:srgbClr val="845EC2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57200" y="26974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845EC2"/>
          </a:solidFill>
          <a:ln w="12700">
            <a:solidFill>
              <a:srgbClr val="845E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5720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2697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파이썬 채팅 만들기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3291840"/>
            <a:ext cx="24688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소켓으로 실제 채팅!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91840" y="2606040"/>
            <a:ext cx="26517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25400">
            <a:solidFill>
              <a:srgbClr val="FFD93D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3383280" y="26974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338328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77640" y="2697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&amp; 미션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83280" y="3291840"/>
            <a:ext cx="24688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코딩해보자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42519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수업이 끝나면 나만의 채팅 프로그램을 만들 수 있어요! 🎉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914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인터넷이란 무엇인가?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023360" cy="3246120"/>
          </a:xfrm>
          <a:prstGeom prst="roundRect">
            <a:avLst>
              <a:gd name="adj" fmla="val 3947"/>
            </a:avLst>
          </a:prstGeom>
          <a:solidFill>
            <a:srgbClr val="FFF9E6"/>
          </a:solidFill>
          <a:ln w="25400">
            <a:solidFill>
              <a:srgbClr val="FFD9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11480" y="12801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🏠  우리 동네 도로처럼!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D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집들이 도로로 연결되어 있듯이
컴퓨터들도 서로 연결되어 있어요.
데이터(정보)가 도로 위의
차처럼 이동해요. 🚗
전 세계 수십억 대의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D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컴퓨터가 연결된 것이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D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바로 인터넷이에요!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34840" y="1188720"/>
            <a:ext cx="4297680" cy="3246120"/>
          </a:xfrm>
          <a:prstGeom prst="roundRect">
            <a:avLst>
              <a:gd name="adj" fmla="val 3947"/>
            </a:avLst>
          </a:prstGeom>
          <a:solidFill>
            <a:srgbClr val="F0F7FF"/>
          </a:solidFill>
          <a:ln w="254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663440" y="126187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컴퓨터 연결 네트워크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 flipH="1">
            <a:off x="5023022" y="1828800"/>
            <a:ext cx="1012018" cy="512064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6035040" y="1828800"/>
            <a:ext cx="1097280" cy="73152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 flipH="1">
            <a:off x="5623560" y="1828800"/>
            <a:ext cx="411480" cy="1444752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4754880" y="2651760"/>
            <a:ext cx="731520" cy="73152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7132320" y="2560320"/>
            <a:ext cx="365760" cy="100584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5486400" y="3383280"/>
            <a:ext cx="2011680" cy="18288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5779008" y="1572768"/>
            <a:ext cx="512064" cy="512064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812618" y="2065555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 PC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90287" y="2185416"/>
            <a:ext cx="512064" cy="512064"/>
          </a:xfrm>
          <a:prstGeom prst="ellipse">
            <a:avLst/>
          </a:prstGeom>
          <a:solidFill>
            <a:srgbClr val="0F3460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4343400" y="29260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학교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76288" y="2304288"/>
            <a:ext cx="512064" cy="512064"/>
          </a:xfrm>
          <a:prstGeom prst="ellipse">
            <a:avLst/>
          </a:prstGeom>
          <a:solidFill>
            <a:srgbClr val="6BCB77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720840" y="28346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유튜브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330951" y="3090672"/>
            <a:ext cx="512064" cy="512064"/>
          </a:xfrm>
          <a:prstGeom prst="ellipse">
            <a:avLst/>
          </a:prstGeom>
          <a:solidFill>
            <a:srgbClr val="845EC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074920" y="3657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친구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242048" y="3310128"/>
            <a:ext cx="512064" cy="512064"/>
          </a:xfrm>
          <a:prstGeom prst="ellipse">
            <a:avLst/>
          </a:prstGeom>
          <a:solidFill>
            <a:srgbClr val="FFD93D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7086600" y="38404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구글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274320" y="46177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인터넷 = 전 세계 컴퓨터들이 서로 연결된 거대한 네트워크!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640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9144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주소 — 컴퓨터의 집 주소!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3931920" cy="3291840"/>
          </a:xfrm>
          <a:prstGeom prst="roundRect">
            <a:avLst>
              <a:gd name="adj" fmla="val 3117"/>
            </a:avLst>
          </a:prstGeom>
          <a:solidFill>
            <a:srgbClr val="FFF0F3"/>
          </a:solidFill>
          <a:ln w="254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🏡  주소로 찾아가기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365760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D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편지를 보내려면 주소가 필요하죠?
컴퓨터도 마찬가지에요!
모든 컴퓨터에는
IP 주소가 있어요.
</a:t>
            </a:r>
            <a:r>
              <a:rPr lang="en-US" sz="1300" b="1" dirty="0">
                <a:solidFill>
                  <a:srgbClr val="3D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예: 192.168.1.100
</a:t>
            </a:r>
            <a:r>
              <a:rPr lang="en-US" sz="1300" dirty="0">
                <a:solidFill>
                  <a:srgbClr val="3D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숫자 4개로 이루어진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D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나만의 주소예요!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1188720"/>
            <a:ext cx="4480560" cy="3291840"/>
          </a:xfrm>
          <a:prstGeom prst="roundRect">
            <a:avLst>
              <a:gd name="adj" fmla="val 3117"/>
            </a:avLst>
          </a:prstGeom>
          <a:solidFill>
            <a:srgbClr val="F0F7FF"/>
          </a:solidFill>
          <a:ln w="254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72000" y="12801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4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주소 파헤치기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0" y="1783080"/>
            <a:ext cx="960120" cy="685800"/>
          </a:xfrm>
          <a:prstGeom prst="roundRect">
            <a:avLst>
              <a:gd name="adj" fmla="val 10667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572000" y="1783080"/>
            <a:ext cx="960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532120" y="1783080"/>
            <a:ext cx="91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623560" y="1783080"/>
            <a:ext cx="960120" cy="685800"/>
          </a:xfrm>
          <a:prstGeom prst="roundRect">
            <a:avLst>
              <a:gd name="adj" fmla="val 10667"/>
            </a:avLst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623560" y="1783080"/>
            <a:ext cx="960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168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583680" y="1783080"/>
            <a:ext cx="91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675120" y="1783080"/>
            <a:ext cx="960120" cy="685800"/>
          </a:xfrm>
          <a:prstGeom prst="roundRect">
            <a:avLst>
              <a:gd name="adj" fmla="val 10667"/>
            </a:avLst>
          </a:prstGeom>
          <a:solidFill>
            <a:srgbClr val="6BCB77"/>
          </a:solidFill>
          <a:ln w="12700">
            <a:solidFill>
              <a:srgbClr val="6BCB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675120" y="1783080"/>
            <a:ext cx="960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635240" y="1783080"/>
            <a:ext cx="91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726680" y="1783080"/>
            <a:ext cx="960120" cy="685800"/>
          </a:xfrm>
          <a:prstGeom prst="roundRect">
            <a:avLst>
              <a:gd name="adj" fmla="val 10667"/>
            </a:avLst>
          </a:prstGeom>
          <a:solidFill>
            <a:srgbClr val="845EC2"/>
          </a:solidFill>
          <a:ln w="12700">
            <a:solidFill>
              <a:srgbClr val="845E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7726680" y="1783080"/>
            <a:ext cx="960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572000" y="2697480"/>
            <a:ext cx="4114800" cy="1783080"/>
          </a:xfrm>
          <a:prstGeom prst="roundRect">
            <a:avLst>
              <a:gd name="adj" fmla="val 5128"/>
            </a:avLst>
          </a:prstGeom>
          <a:solidFill>
            <a:srgbClr val="1A1A2E"/>
          </a:solidFill>
          <a:ln w="1905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709160" y="27889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CB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내 IP 주소 확인하기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09160" y="31089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socket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09160" y="33832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hostname = socket.gethostname()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09160" y="3657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D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= socket.gethostbyname(hostname)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09160" y="39319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print("내 IP:", ip)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274320" y="46177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IP = 컴퓨터의 집 주소 (숫자 4개 → 0~255 사이)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6BCB77"/>
          </a:solidFill>
          <a:ln w="12700">
            <a:solidFill>
              <a:srgbClr val="6BCB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포트(Port) — 건물의 방 번호!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114800" cy="3406140"/>
          </a:xfrm>
          <a:prstGeom prst="roundRect">
            <a:avLst>
              <a:gd name="adj" fmla="val 2469"/>
            </a:avLst>
          </a:prstGeom>
          <a:solidFill>
            <a:srgbClr val="F0FFF4"/>
          </a:solidFill>
          <a:ln w="25400">
            <a:solidFill>
              <a:srgbClr val="6BCB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  아파트 비유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건물(컴퓨터)에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D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여러 가지 서비스가 있어요!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2423160"/>
            <a:ext cx="3657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02920" y="2423160"/>
            <a:ext cx="34747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80호  →  웹사이트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3657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02920" y="2971800"/>
            <a:ext cx="34747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443호  →  보안 웹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3520440"/>
            <a:ext cx="3657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02920" y="3520440"/>
            <a:ext cx="34747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 22호  →  터미널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4069080"/>
            <a:ext cx="3657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02920" y="4069080"/>
            <a:ext cx="347472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 12345호  →  우리 채팅!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1143000"/>
            <a:ext cx="4206240" cy="3429000"/>
          </a:xfrm>
          <a:prstGeom prst="roundRect">
            <a:avLst>
              <a:gd name="adj" fmla="val 2469"/>
            </a:avLst>
          </a:prstGeom>
          <a:solidFill>
            <a:srgbClr val="F8F9FA"/>
          </a:solidFill>
          <a:ln w="25400">
            <a:solidFill>
              <a:srgbClr val="6BCB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846320" y="12344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🐍  포트로 연결하기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54880" y="1737360"/>
            <a:ext cx="4023360" cy="2834640"/>
          </a:xfrm>
          <a:prstGeom prst="roundRect">
            <a:avLst>
              <a:gd name="adj" fmla="val 3226"/>
            </a:avLst>
          </a:prstGeom>
          <a:solidFill>
            <a:srgbClr val="1A1A2E"/>
          </a:solidFill>
          <a:ln w="12700">
            <a:solidFill>
              <a:srgbClr val="6BCB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892040" y="18288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socket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92040" y="21031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92040" y="23774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CB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IP 주소와 포트 설정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92040" y="26517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 = "127.0.0.1"  # 내 컴퓨터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92040" y="29260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 = 12345        # 내가 정한 문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92040" y="32004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92040" y="34747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CB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소켓 만들기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92040" y="37490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D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socket.socket()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92040" y="40233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D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s.connect((HOST, PORT))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0" y="4640580"/>
            <a:ext cx="9144000" cy="502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274320" y="46177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포트 = 방 번호 (0~65535까지 있어요!)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845EC2"/>
          </a:solidFill>
          <a:ln w="12700">
            <a:solidFill>
              <a:srgbClr val="845E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클라이언트 &amp; 서버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3200400" cy="3063240"/>
          </a:xfrm>
          <a:prstGeom prst="roundRect">
            <a:avLst>
              <a:gd name="adj" fmla="val 4286"/>
            </a:avLst>
          </a:prstGeom>
          <a:solidFill>
            <a:srgbClr val="FFF0F3"/>
          </a:solidFill>
          <a:ln w="254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 클라이언트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28346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3D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요청하는 쪽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3D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우리가 사용하는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3D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웹 브라우저,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3D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앱, 게임...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3D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"주세요!"라고 말하는 역할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566160" y="2377440"/>
            <a:ext cx="2011680" cy="73152"/>
          </a:xfrm>
          <a:prstGeom prst="rect">
            <a:avLst/>
          </a:prstGeom>
          <a:solidFill>
            <a:srgbClr val="845EC2"/>
          </a:solidFill>
          <a:ln w="12700">
            <a:solidFill>
              <a:srgbClr val="845E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566160" y="1965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45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요청 →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566160" y="2926080"/>
            <a:ext cx="2011680" cy="73152"/>
          </a:xfrm>
          <a:prstGeom prst="rect">
            <a:avLst/>
          </a:prstGeom>
          <a:solidFill>
            <a:srgbClr val="6BCB77"/>
          </a:solidFill>
          <a:ln w="12700">
            <a:solidFill>
              <a:srgbClr val="6BCB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3566160" y="2971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C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응답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11880" y="36576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45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🍕 피자집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45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비유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0" y="1188720"/>
            <a:ext cx="3200400" cy="3063240"/>
          </a:xfrm>
          <a:prstGeom prst="roundRect">
            <a:avLst>
              <a:gd name="adj" fmla="val 4286"/>
            </a:avLst>
          </a:prstGeom>
          <a:solidFill>
            <a:srgbClr val="F3F0FF"/>
          </a:solidFill>
          <a:ln w="25400">
            <a:solidFill>
              <a:srgbClr val="845E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852160" y="12801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45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  서버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852160" y="1828800"/>
            <a:ext cx="28346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3D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응답하는 쪽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3D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유튜브, 구글,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3D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게임 서버...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3D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항상 켜져서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3D3D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기다리는 역할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845EC2"/>
          </a:solidFill>
          <a:ln w="12700">
            <a:solidFill>
              <a:srgbClr val="845E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274320" y="46177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서버 = 요리사 (기다리며 준비), 클라이언트 = 손님 (주문!)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🔌  소켓(Socket) = 연결 통로!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소켓은 컴퓨터끼리 데이터를 주고받는 연결 통로예요.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691640"/>
            <a:ext cx="4206240" cy="3154680"/>
          </a:xfrm>
          <a:prstGeom prst="roundRect">
            <a:avLst>
              <a:gd name="adj" fmla="val 3478"/>
            </a:avLst>
          </a:prstGeom>
          <a:solidFill>
            <a:srgbClr val="0D1117"/>
          </a:solidFill>
          <a:ln w="254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11480" y="17373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  서버 코드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socket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244144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68833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CB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서버 소켓 만들기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93522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D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 = socket.socket()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18211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D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server.bind(("", 12345))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42900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D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server.listen(1)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200" y="367588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392277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CB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연결 기다리기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416966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9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conn, addr = server.accept()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441655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print("연결됨!", addr)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1691640"/>
            <a:ext cx="4206240" cy="3154680"/>
          </a:xfrm>
          <a:prstGeom prst="roundRect">
            <a:avLst>
              <a:gd name="adj" fmla="val 3478"/>
            </a:avLst>
          </a:prstGeom>
          <a:solidFill>
            <a:srgbClr val="0D1117"/>
          </a:solidFill>
          <a:ln w="254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892040" y="17373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 클라이언트 코드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219456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socket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37760" y="244144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37760" y="268833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CB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클라이언트 소켓 만들기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37760" y="293522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D9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socket.socket()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937760" y="318211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37760" y="342900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CB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서버에 연결하기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937760" y="367588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9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client.connect(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937760" y="392277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9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("127.0.0.1", 12345))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37760" y="416966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print("서버에 연결 성공!")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160520" y="283464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←→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연결!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91440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 어떻게 실행하나요?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804672"/>
          </a:xfrm>
          <a:prstGeom prst="roundRect">
            <a:avLst>
              <a:gd name="adj" fmla="val 11364"/>
            </a:avLst>
          </a:prstGeom>
          <a:solidFill>
            <a:srgbClr val="F8F9FA"/>
          </a:solidFill>
          <a:ln w="25400">
            <a:solidFill>
              <a:srgbClr val="0F3460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65760" y="1161288"/>
            <a:ext cx="493776" cy="493776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65760" y="116128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06070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 터미널 2개 열기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408176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서버용, 클라이언트용 터미널 두 개 준비!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911096"/>
            <a:ext cx="8595360" cy="804672"/>
          </a:xfrm>
          <a:prstGeom prst="roundRect">
            <a:avLst>
              <a:gd name="adj" fmla="val 11364"/>
            </a:avLst>
          </a:prstGeom>
          <a:solidFill>
            <a:srgbClr val="F8F9FA"/>
          </a:solidFill>
          <a:ln w="25400">
            <a:solidFill>
              <a:srgbClr val="845EC2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65760" y="2066544"/>
            <a:ext cx="493776" cy="493776"/>
          </a:xfrm>
          <a:prstGeom prst="ellipse">
            <a:avLst/>
          </a:prstGeom>
          <a:solidFill>
            <a:srgbClr val="845EC2"/>
          </a:solidFill>
          <a:ln w="12700">
            <a:solidFill>
              <a:srgbClr val="845E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65760" y="2066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19659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  서버 먼저 실행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31343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server.py → 기다리는 모드 시작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816352"/>
            <a:ext cx="8595360" cy="804672"/>
          </a:xfrm>
          <a:prstGeom prst="roundRect">
            <a:avLst>
              <a:gd name="adj" fmla="val 11364"/>
            </a:avLst>
          </a:prstGeom>
          <a:solidFill>
            <a:srgbClr val="F8F9FA"/>
          </a:solidFill>
          <a:ln w="25400">
            <a:solidFill>
              <a:srgbClr val="E94560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365760" y="2971800"/>
            <a:ext cx="493776" cy="493776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365760" y="29718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287121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📡  클라이언트 실행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3218688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client.py → 서버에 연결!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721608"/>
            <a:ext cx="8595360" cy="804672"/>
          </a:xfrm>
          <a:prstGeom prst="roundRect">
            <a:avLst>
              <a:gd name="adj" fmla="val 11364"/>
            </a:avLst>
          </a:prstGeom>
          <a:solidFill>
            <a:srgbClr val="F8F9FA"/>
          </a:solidFill>
          <a:ln w="25400">
            <a:solidFill>
              <a:srgbClr val="6BCB77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365760" y="3877056"/>
            <a:ext cx="493776" cy="493776"/>
          </a:xfrm>
          <a:prstGeom prst="ellipse">
            <a:avLst/>
          </a:prstGeom>
          <a:solidFill>
            <a:srgbClr val="6BCB77"/>
          </a:solidFill>
          <a:ln w="12700">
            <a:solidFill>
              <a:srgbClr val="6BCB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365760" y="387705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0120" y="37764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 채팅 시작!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120" y="4123944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메시지를 입력하면 서버/클라이언트가 대화해요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FFD93D"/>
          </a:solidFill>
          <a:ln w="12700">
            <a:solidFill>
              <a:srgbClr val="FFD9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274320" y="4663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서버를 먼저 켜야 클라이언트가 연결할 수 있어요!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E94560">
              <a:alpha val="25000"/>
            </a:srgbClr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4FC3F7">
              <a:alpha val="25000"/>
            </a:srgbClr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🎉  오늘 배운 것 정리!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0F1B30"/>
          </a:solidFill>
          <a:ln w="1905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10972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인터넷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4813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 세계 컴퓨터들의 연결 네트워크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0F1B30"/>
          </a:solidFill>
          <a:ln w="1905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89204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0" y="10972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주소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0" y="14813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컴퓨터의 집 주소 (예: 192.168.1.1)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194560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0F1B30"/>
          </a:solidFill>
          <a:ln w="19050">
            <a:solidFill>
              <a:srgbClr val="6BCB7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50292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🚪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97280" y="22860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CB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포트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26700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건물 안의 방 번호 (0~65535)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2194560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0F1B30"/>
          </a:solidFill>
          <a:ln w="19050">
            <a:solidFill>
              <a:srgbClr val="FFD93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489204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🍽️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486400" y="22860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서버 / 클라이언트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0" y="26700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요리사 / 손님 관계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383280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0F1B30"/>
          </a:solidFill>
          <a:ln w="19050">
            <a:solidFill>
              <a:srgbClr val="845EC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0292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🔌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097280" y="34747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45E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97280" y="385876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컴퓨터를 연결하는 파이썬 도구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383280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0F1B30"/>
          </a:solidFill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89204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486400" y="34747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채팅 프로그램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86400" y="385876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 모듈로 직접 만들었어요!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46634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다음엔 여러 명이 동시에 채팅하는 프로그램도 만들 수 있어요! 🚀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626</Words>
  <Application>Microsoft Office PowerPoint</Application>
  <PresentationFormat>화면 슬라이드 쇼(16:9)</PresentationFormat>
  <Paragraphs>156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Arial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인터넷 네트워크와 파이썬 채팅 프로그램</dc:title>
  <dc:subject>PptxGenJS Presentation</dc:subject>
  <dc:creator>PptxGenJS</dc:creator>
  <cp:lastModifiedBy>김동현</cp:lastModifiedBy>
  <cp:revision>2</cp:revision>
  <dcterms:created xsi:type="dcterms:W3CDTF">2026-06-10T12:26:08Z</dcterms:created>
  <dcterms:modified xsi:type="dcterms:W3CDTF">2026-06-10T16:08:53Z</dcterms:modified>
</cp:coreProperties>
</file>